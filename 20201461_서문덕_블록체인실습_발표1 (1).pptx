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3" r:id="rId1"/>
  </p:sldMasterIdLst>
  <p:sldIdLst>
    <p:sldId id="256" r:id="rId2"/>
    <p:sldId id="260" r:id="rId3"/>
    <p:sldId id="259" r:id="rId4"/>
    <p:sldId id="257" r:id="rId5"/>
    <p:sldId id="272" r:id="rId6"/>
    <p:sldId id="265" r:id="rId7"/>
    <p:sldId id="262" r:id="rId8"/>
    <p:sldId id="270" r:id="rId9"/>
    <p:sldId id="273" r:id="rId10"/>
    <p:sldId id="274" r:id="rId11"/>
    <p:sldId id="261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1C6846-1A93-550D-718B-951BC25F5C0E}" v="123" dt="2026-05-18T03:01:47.2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42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540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129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643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5/17/2026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854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5/17/2026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112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5/17/2026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998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654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761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723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378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lIns="109728" tIns="109728" rIns="109728" bIns="91440"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lIns="109728" tIns="109728" rIns="109728" b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1050" spc="4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1050" spc="4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2752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76" r:id="rId6"/>
    <p:sldLayoutId id="2147483672" r:id="rId7"/>
    <p:sldLayoutId id="2147483673" r:id="rId8"/>
    <p:sldLayoutId id="2147483674" r:id="rId9"/>
    <p:sldLayoutId id="2147483675" r:id="rId10"/>
    <p:sldLayoutId id="214748367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none" spc="8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 spc="4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 spc="4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4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 spc="4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 spc="4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F92653-5D6D-47E6-8744-0DAF76E04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495299" y="2462433"/>
            <a:ext cx="10283452" cy="3871143"/>
          </a:xfrm>
        </p:spPr>
        <p:txBody>
          <a:bodyPr>
            <a:normAutofit/>
          </a:bodyPr>
          <a:lstStyle/>
          <a:p>
            <a:pPr algn="ctr"/>
            <a:r>
              <a:rPr lang="ko-KR" sz="5000">
                <a:solidFill>
                  <a:srgbClr val="1F2328"/>
                </a:solidFill>
                <a:highlight>
                  <a:srgbClr val="FFFFFF"/>
                </a:highlight>
                <a:ea typeface="+mj-lt"/>
                <a:cs typeface="+mj-lt"/>
              </a:rPr>
              <a:t>AI 기반 실시간 DDoS 공격 탐지 및 </a:t>
            </a:r>
            <a:br>
              <a:rPr lang="ko-KR" altLang="en-US" sz="5000" dirty="0">
                <a:solidFill>
                  <a:srgbClr val="1F2328"/>
                </a:solidFill>
                <a:highlight>
                  <a:srgbClr val="FFFFFF"/>
                </a:highlight>
                <a:ea typeface="+mj-lt"/>
                <a:cs typeface="+mj-lt"/>
              </a:rPr>
            </a:br>
            <a:r>
              <a:rPr lang="ko-KR" sz="5000">
                <a:solidFill>
                  <a:srgbClr val="1F2328"/>
                </a:solidFill>
                <a:highlight>
                  <a:srgbClr val="FFFFFF"/>
                </a:highlight>
                <a:ea typeface="+mj-lt"/>
                <a:cs typeface="+mj-lt"/>
              </a:rPr>
              <a:t>자동 차단 시스템</a:t>
            </a:r>
            <a:endParaRPr lang="ko-KR" sz="4000">
              <a:ea typeface="Microsoft GothicNeo"/>
              <a:cs typeface="Microsoft GothicNeo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4850376" y="5038175"/>
            <a:ext cx="6991776" cy="1048299"/>
          </a:xfrm>
        </p:spPr>
        <p:txBody>
          <a:bodyPr>
            <a:normAutofit/>
          </a:bodyPr>
          <a:lstStyle/>
          <a:p>
            <a:pPr algn="r"/>
            <a:r>
              <a:rPr lang="ko-KR" altLang="en-US" sz="2200">
                <a:ea typeface="Microsoft GothicNeo"/>
                <a:cs typeface="Microsoft GothicNeo"/>
              </a:rPr>
              <a:t>20201461 서문덕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CA98CE3-81A7-4FFE-A047-9AA65998D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D91C2B-BDB9-49BE-9C44-E0CFE597AB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92109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4EC71F-FDAE-C7E7-D962-8C93EF635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E53615EE-C559-4E03-999B-5477F1626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A4A6808-CAC9-9078-A6EE-ECC7AFB71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8" y="909637"/>
            <a:ext cx="6400800" cy="1307592"/>
          </a:xfrm>
        </p:spPr>
        <p:txBody>
          <a:bodyPr>
            <a:normAutofit/>
          </a:bodyPr>
          <a:lstStyle/>
          <a:p>
            <a:r>
              <a:rPr lang="ko-KR" altLang="en-US">
                <a:highlight>
                  <a:srgbClr val="FFFFFF"/>
                </a:highlight>
                <a:ea typeface="+mj-lt"/>
                <a:cs typeface="+mj-lt"/>
              </a:rPr>
              <a:t>제작 배경 </a:t>
            </a:r>
            <a:endParaRPr lang="en-US" altLang="ko-KR">
              <a:highlight>
                <a:srgbClr val="FFFFFF"/>
              </a:highlight>
              <a:ea typeface="Microsoft GothicNeo"/>
              <a:cs typeface="Microsoft GothicNeo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AEDDB4C-6582-43D5-AF25-99F4AD3A1B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7CE044-8BE3-CB8D-D091-B4E4E604B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087" y="2226373"/>
            <a:ext cx="6283419" cy="3721990"/>
          </a:xfrm>
        </p:spPr>
        <p:txBody>
          <a:bodyPr lIns="109728" tIns="109728" rIns="109728" bIns="91440" anchor="t">
            <a:normAutofit/>
          </a:bodyPr>
          <a:lstStyle/>
          <a:p>
            <a:pPr marL="457200" indent="-457200">
              <a:buAutoNum type="arabicPeriod"/>
            </a:pPr>
            <a:r>
              <a:rPr lang="ko-KR">
                <a:ea typeface="+mn-lt"/>
                <a:cs typeface="+mn-lt"/>
              </a:rPr>
              <a:t>최근 개인을 대상으로 하는 DDoS 공격이 급증</a:t>
            </a:r>
          </a:p>
          <a:p>
            <a:pPr marL="457200" indent="-457200">
              <a:buAutoNum type="arabicPeriod"/>
            </a:pPr>
            <a:endParaRPr lang="ko-KR" altLang="en-US" b="1" dirty="0">
              <a:ea typeface="+mn-lt"/>
              <a:cs typeface="+mn-lt"/>
            </a:endParaRPr>
          </a:p>
          <a:p>
            <a:pPr marL="457200" indent="-457200">
              <a:buAutoNum type="arabicPeriod"/>
            </a:pPr>
            <a:r>
              <a:rPr lang="en-US" dirty="0" err="1">
                <a:ea typeface="+mn-lt"/>
                <a:cs typeface="+mn-lt"/>
              </a:rPr>
              <a:t>기존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방어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시스템은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규칙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기반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탐지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방식이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많아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새로운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공격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패턴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대응이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어려움</a:t>
            </a:r>
            <a:endParaRPr lang="en-US" altLang="ko-KR" dirty="0" err="1">
              <a:ea typeface="+mn-lt"/>
              <a:cs typeface="+mn-lt"/>
            </a:endParaRPr>
          </a:p>
          <a:p>
            <a:pPr marL="457200" indent="-457200">
              <a:buAutoNum type="arabicPeriod"/>
            </a:pPr>
            <a:endParaRPr lang="en-US" dirty="0">
              <a:ea typeface="Microsoft GothicNeo"/>
              <a:cs typeface="Microsoft GothicNeo"/>
            </a:endParaRPr>
          </a:p>
          <a:p>
            <a:pPr marL="457200" indent="-457200">
              <a:buAutoNum type="arabicPeriod"/>
            </a:pPr>
            <a:r>
              <a:rPr lang="en-US" dirty="0">
                <a:ea typeface="+mn-lt"/>
                <a:cs typeface="+mn-lt"/>
              </a:rPr>
              <a:t>AI </a:t>
            </a:r>
            <a:r>
              <a:rPr lang="ko-KR" altLang="en-US" err="1">
                <a:ea typeface="+mn-lt"/>
                <a:cs typeface="+mn-lt"/>
              </a:rPr>
              <a:t>기반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ko-KR" altLang="en-US" err="1">
                <a:ea typeface="+mn-lt"/>
                <a:cs typeface="+mn-lt"/>
              </a:rPr>
              <a:t>이상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ko-KR" altLang="en-US" err="1">
                <a:ea typeface="+mn-lt"/>
                <a:cs typeface="+mn-lt"/>
              </a:rPr>
              <a:t>탐지를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ko-KR" altLang="en-US" err="1">
                <a:ea typeface="+mn-lt"/>
                <a:cs typeface="+mn-lt"/>
              </a:rPr>
              <a:t>활용하면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ko-KR" altLang="en-US" err="1">
                <a:ea typeface="+mn-lt"/>
                <a:cs typeface="+mn-lt"/>
              </a:rPr>
              <a:t>기존의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ko-KR" altLang="en-US" err="1">
                <a:ea typeface="+mn-lt"/>
                <a:cs typeface="+mn-lt"/>
              </a:rPr>
              <a:t>규칙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ko-KR" altLang="en-US" err="1">
                <a:ea typeface="+mn-lt"/>
                <a:cs typeface="+mn-lt"/>
              </a:rPr>
              <a:t>기반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ko-KR" altLang="en-US" err="1">
                <a:ea typeface="+mn-lt"/>
                <a:cs typeface="+mn-lt"/>
              </a:rPr>
              <a:t>보안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ko-KR" altLang="en-US" err="1">
                <a:ea typeface="+mn-lt"/>
                <a:cs typeface="+mn-lt"/>
              </a:rPr>
              <a:t>시스템보다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ko-KR" altLang="en-US" err="1">
                <a:ea typeface="+mn-lt"/>
                <a:cs typeface="+mn-lt"/>
              </a:rPr>
              <a:t>제로데이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ko-KR" altLang="en-US" err="1">
                <a:ea typeface="+mn-lt"/>
                <a:cs typeface="+mn-lt"/>
              </a:rPr>
              <a:t>공격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ko-KR" altLang="en-US" err="1">
                <a:ea typeface="+mn-lt"/>
                <a:cs typeface="+mn-lt"/>
              </a:rPr>
              <a:t>탐지에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ko-KR" altLang="en-US">
                <a:ea typeface="+mn-lt"/>
                <a:cs typeface="+mn-lt"/>
              </a:rPr>
              <a:t>유리함</a:t>
            </a:r>
            <a:endParaRPr lang="en-US" dirty="0">
              <a:ea typeface="+mn-lt"/>
              <a:cs typeface="+mn-lt"/>
            </a:endParaRPr>
          </a:p>
          <a:p>
            <a:pPr marL="457200" indent="-457200">
              <a:buAutoNum type="arabicPeriod"/>
            </a:pPr>
            <a:endParaRPr lang="en-US" dirty="0">
              <a:ea typeface="Microsoft GothicNeo"/>
              <a:cs typeface="Microsoft GothicNeo"/>
            </a:endParaRPr>
          </a:p>
          <a:p>
            <a:pPr marL="457200" indent="-457200">
              <a:buAutoNum type="arabicPeriod"/>
            </a:pPr>
            <a:endParaRPr lang="en-US" dirty="0">
              <a:ea typeface="Microsoft GothicNeo"/>
              <a:cs typeface="Microsoft GothicNeo"/>
            </a:endParaRPr>
          </a:p>
        </p:txBody>
      </p:sp>
      <p:pic>
        <p:nvPicPr>
          <p:cNvPr id="7" name="그림 6" descr="파일:Ddos-attack-ex.png - 위키백과, 우리 모두의 백과사전">
            <a:extLst>
              <a:ext uri="{FF2B5EF4-FFF2-40B4-BE49-F238E27FC236}">
                <a16:creationId xmlns:a16="http://schemas.microsoft.com/office/drawing/2014/main" id="{54152D5E-4371-C4E1-82D5-27A3E3601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5358" y="909637"/>
            <a:ext cx="3523656" cy="2387826"/>
          </a:xfrm>
          <a:prstGeom prst="rect">
            <a:avLst/>
          </a:prstGeom>
        </p:spPr>
      </p:pic>
      <p:pic>
        <p:nvPicPr>
          <p:cNvPr id="6" name="그림 5" descr="Instructions for testing DDoS and how to defend against it">
            <a:extLst>
              <a:ext uri="{FF2B5EF4-FFF2-40B4-BE49-F238E27FC236}">
                <a16:creationId xmlns:a16="http://schemas.microsoft.com/office/drawing/2014/main" id="{85F5764E-8155-ACDA-49A6-5E5525730F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2473" y="3586904"/>
            <a:ext cx="3949425" cy="2211678"/>
          </a:xfrm>
          <a:prstGeom prst="rect">
            <a:avLst/>
          </a:prstGeom>
        </p:spPr>
      </p:pic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B152A91-2920-4848-A8BC-B15DA3245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42972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53615EE-C559-4E03-999B-5477F1626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2A0F12B-27FE-6306-B8E4-7D930A9F7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8" y="909637"/>
            <a:ext cx="5958216" cy="1316736"/>
          </a:xfrm>
        </p:spPr>
        <p:txBody>
          <a:bodyPr>
            <a:normAutofit/>
          </a:bodyPr>
          <a:lstStyle/>
          <a:p>
            <a:r>
              <a:rPr lang="ko-KR" altLang="en-US">
                <a:highlight>
                  <a:srgbClr val="FFFFFF"/>
                </a:highlight>
                <a:ea typeface="Microsoft GothicNeo"/>
                <a:cs typeface="Microsoft GothicNeo"/>
              </a:rPr>
              <a:t>제작 목표 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99A8EBD-049C-48E6-97ED-C9102D78FC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2376"/>
            <a:ext cx="5715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EC72A0-A6E6-97A7-F57E-250D80AC9F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088" y="2235251"/>
            <a:ext cx="5958216" cy="3713109"/>
          </a:xfrm>
        </p:spPr>
        <p:txBody>
          <a:bodyPr lIns="109728" tIns="109728" rIns="109728" bIns="91440" anchor="t">
            <a:normAutofit/>
          </a:bodyPr>
          <a:lstStyle/>
          <a:p>
            <a:pPr marL="457200" indent="-457200">
              <a:lnSpc>
                <a:spcPct val="110000"/>
              </a:lnSpc>
              <a:buAutoNum type="arabicPeriod"/>
            </a:pPr>
            <a:r>
              <a:rPr lang="ko-KR" sz="1700">
                <a:ea typeface="+mn-lt"/>
                <a:cs typeface="+mn-lt"/>
              </a:rPr>
              <a:t>네트워크 트래픽 데이터를 수집하고 분석하여 정상적인 트래픽 패턴을 학습하는 AI 모델을 구축한다</a:t>
            </a:r>
            <a:r>
              <a:rPr lang="en-US" altLang="ko-KR" sz="1700">
                <a:ea typeface="+mn-lt"/>
                <a:cs typeface="+mn-lt"/>
              </a:rPr>
              <a:t>.</a:t>
            </a:r>
          </a:p>
          <a:p>
            <a:pPr marL="457200" indent="-457200">
              <a:lnSpc>
                <a:spcPct val="110000"/>
              </a:lnSpc>
              <a:buAutoNum type="arabicPeriod"/>
            </a:pPr>
            <a:r>
              <a:rPr lang="ko-KR" altLang="en-US" sz="1700" dirty="0">
                <a:ea typeface="Microsoft GothicNeo"/>
                <a:cs typeface="Microsoft GothicNeo"/>
              </a:rPr>
              <a:t> </a:t>
            </a:r>
            <a:r>
              <a:rPr lang="ko-KR" sz="1700">
                <a:ea typeface="+mn-lt"/>
                <a:cs typeface="+mn-lt"/>
              </a:rPr>
              <a:t>AI 모델을 활용하여 비정상적인 트래픽 패턴을 탐지하고 공격 발생 시 자동으로 경고를 발생시키도록 한다.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ko-KR" sz="1700" dirty="0">
                <a:ea typeface="Microsoft GothicNeo"/>
                <a:cs typeface="Microsoft GothicNeo"/>
              </a:rPr>
              <a:t>3.</a:t>
            </a:r>
            <a:r>
              <a:rPr lang="ko-KR" sz="1700" dirty="0">
                <a:ea typeface="Microsoft GothicNeo"/>
                <a:cs typeface="Microsoft GothicNeo"/>
              </a:rPr>
              <a:t> </a:t>
            </a:r>
            <a:r>
              <a:rPr lang="ko-KR" altLang="en-US" sz="1700" dirty="0">
                <a:ea typeface="+mn-lt"/>
                <a:cs typeface="+mn-lt"/>
              </a:rPr>
              <a:t>    </a:t>
            </a:r>
            <a:r>
              <a:rPr lang="en-US" altLang="ko-KR" sz="1700" dirty="0">
                <a:ea typeface="+mn-lt"/>
                <a:cs typeface="+mn-lt"/>
              </a:rPr>
              <a:t>SYN</a:t>
            </a:r>
            <a:r>
              <a:rPr lang="ko-KR" sz="1700" dirty="0">
                <a:ea typeface="+mn-lt"/>
                <a:cs typeface="+mn-lt"/>
              </a:rPr>
              <a:t> </a:t>
            </a:r>
            <a:r>
              <a:rPr lang="en-US" altLang="ko-KR" sz="1700" dirty="0">
                <a:ea typeface="+mn-lt"/>
                <a:cs typeface="+mn-lt"/>
              </a:rPr>
              <a:t>Flood ,</a:t>
            </a:r>
            <a:r>
              <a:rPr lang="ko-KR" altLang="en-US" sz="1700" dirty="0">
                <a:ea typeface="+mn-lt"/>
                <a:cs typeface="+mn-lt"/>
              </a:rPr>
              <a:t> </a:t>
            </a:r>
            <a:r>
              <a:rPr lang="en-US" altLang="ko-KR" sz="1700" dirty="0">
                <a:ea typeface="+mn-lt"/>
                <a:cs typeface="+mn-lt"/>
              </a:rPr>
              <a:t>UDP</a:t>
            </a:r>
            <a:r>
              <a:rPr lang="ko-KR" sz="1700" dirty="0">
                <a:ea typeface="+mn-lt"/>
                <a:cs typeface="+mn-lt"/>
              </a:rPr>
              <a:t> </a:t>
            </a:r>
            <a:r>
              <a:rPr lang="en-US" altLang="ko-KR" sz="1700" dirty="0">
                <a:ea typeface="+mn-lt"/>
                <a:cs typeface="+mn-lt"/>
              </a:rPr>
              <a:t>Flood,</a:t>
            </a:r>
            <a:r>
              <a:rPr lang="ko-KR" altLang="en-US" sz="1700" dirty="0">
                <a:ea typeface="+mn-lt"/>
                <a:cs typeface="+mn-lt"/>
              </a:rPr>
              <a:t> </a:t>
            </a:r>
            <a:r>
              <a:rPr lang="en-US" altLang="ko-KR" sz="1700" dirty="0">
                <a:ea typeface="+mn-lt"/>
                <a:cs typeface="+mn-lt"/>
              </a:rPr>
              <a:t>ICMP</a:t>
            </a:r>
            <a:r>
              <a:rPr lang="ko-KR" sz="1700" dirty="0">
                <a:ea typeface="+mn-lt"/>
                <a:cs typeface="+mn-lt"/>
              </a:rPr>
              <a:t> </a:t>
            </a:r>
            <a:r>
              <a:rPr lang="en-US" altLang="ko-KR" sz="1700" dirty="0">
                <a:ea typeface="+mn-lt"/>
                <a:cs typeface="+mn-lt"/>
              </a:rPr>
              <a:t>Flood,</a:t>
            </a:r>
            <a:r>
              <a:rPr lang="ko-KR" altLang="en-US" sz="1700" dirty="0">
                <a:ea typeface="+mn-lt"/>
                <a:cs typeface="+mn-lt"/>
              </a:rPr>
              <a:t> </a:t>
            </a:r>
            <a:r>
              <a:rPr lang="en-US" altLang="ko-KR" sz="1700" dirty="0">
                <a:ea typeface="+mn-lt"/>
                <a:cs typeface="+mn-lt"/>
              </a:rPr>
              <a:t>HTTP</a:t>
            </a:r>
            <a:r>
              <a:rPr lang="ko-KR" sz="1700" dirty="0">
                <a:ea typeface="+mn-lt"/>
                <a:cs typeface="+mn-lt"/>
              </a:rPr>
              <a:t> </a:t>
            </a:r>
            <a:r>
              <a:rPr lang="en-US" altLang="ko-KR" sz="1700" dirty="0">
                <a:ea typeface="+mn-lt"/>
                <a:cs typeface="+mn-lt"/>
              </a:rPr>
              <a:t>Flood,</a:t>
            </a:r>
            <a:r>
              <a:rPr lang="ko-KR" altLang="en-US" sz="1700" dirty="0">
                <a:ea typeface="+mn-lt"/>
                <a:cs typeface="+mn-lt"/>
              </a:rPr>
              <a:t> </a:t>
            </a:r>
            <a:r>
              <a:rPr lang="en-US" altLang="ko-KR" sz="1700" dirty="0" err="1">
                <a:ea typeface="+mn-lt"/>
                <a:cs typeface="+mn-lt"/>
              </a:rPr>
              <a:t>Slowloris</a:t>
            </a:r>
            <a:r>
              <a:rPr lang="ko-KR" sz="1700" dirty="0">
                <a:ea typeface="+mn-lt"/>
                <a:cs typeface="+mn-lt"/>
              </a:rPr>
              <a:t>와 같은 다양한 DDoS 공격으로 탐지 범위를 확장한다. </a:t>
            </a:r>
            <a:endParaRPr lang="en-US" altLang="ko-KR" sz="1700" dirty="0">
              <a:ea typeface="Microsoft GothicNeo"/>
              <a:cs typeface="Microsoft GothicNeo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altLang="ko-KR" sz="1700">
                <a:ea typeface="Microsoft GothicNeo"/>
                <a:cs typeface="Microsoft GothicNeo"/>
              </a:rPr>
              <a:t>4.</a:t>
            </a:r>
            <a:r>
              <a:rPr lang="ko-KR" altLang="en-US" sz="1700" dirty="0">
                <a:ea typeface="Microsoft GothicNeo"/>
                <a:cs typeface="Microsoft GothicNeo"/>
              </a:rPr>
              <a:t>     </a:t>
            </a:r>
            <a:r>
              <a:rPr lang="ko-KR" sz="1700">
                <a:ea typeface="Microsoft GothicNeo"/>
                <a:cs typeface="Microsoft GothicNeo"/>
              </a:rPr>
              <a:t>또한 장기적으로는 Port Scanning, XSS, SQL Injection, CSRF 등 다양한 사이버 공격에 대해서도 대응 가능한 통합 보안 시스템으로 발전시키고자 한다.</a:t>
            </a:r>
            <a:endParaRPr lang="en-US" altLang="ko-KR" sz="1700">
              <a:ea typeface="Microsoft GothicNeo"/>
              <a:cs typeface="Microsoft GothicNeo"/>
            </a:endParaRPr>
          </a:p>
          <a:p>
            <a:pPr marL="457200" indent="-457200">
              <a:lnSpc>
                <a:spcPct val="110000"/>
              </a:lnSpc>
              <a:buAutoNum type="arabicPeriod"/>
            </a:pPr>
            <a:endParaRPr lang="ko-KR" sz="1700">
              <a:ea typeface="Microsoft GothicNeo"/>
              <a:cs typeface="Microsoft GothicNeo"/>
            </a:endParaRPr>
          </a:p>
          <a:p>
            <a:pPr>
              <a:lnSpc>
                <a:spcPct val="110000"/>
              </a:lnSpc>
            </a:pPr>
            <a:endParaRPr lang="ko-KR" altLang="en-US" sz="1700">
              <a:ea typeface="Microsoft GothicNeo"/>
              <a:cs typeface="Microsoft GothicNeo"/>
            </a:endParaRPr>
          </a:p>
        </p:txBody>
      </p:sp>
      <p:pic>
        <p:nvPicPr>
          <p:cNvPr id="4" name="그림 3" descr="CISA와 FBI가 교차 사이트 스크립팅 취약점 제거에 관한 Secure by Design 경고를">
            <a:extLst>
              <a:ext uri="{FF2B5EF4-FFF2-40B4-BE49-F238E27FC236}">
                <a16:creationId xmlns:a16="http://schemas.microsoft.com/office/drawing/2014/main" id="{81D1B784-69D0-AF93-91A8-9A2C31DFC3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872440"/>
            <a:ext cx="4076700" cy="2290587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7AB7C5C-C091-4C25-B1BD-93E2F6948C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8546"/>
            <a:ext cx="5715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 descr="What is cross-site request forgery?">
            <a:extLst>
              <a:ext uri="{FF2B5EF4-FFF2-40B4-BE49-F238E27FC236}">
                <a16:creationId xmlns:a16="http://schemas.microsoft.com/office/drawing/2014/main" id="{557DA28D-320C-8779-2FCA-86FE8244F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3798843"/>
            <a:ext cx="4076700" cy="2143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33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C36B81-B72C-6A73-4021-A0110A596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ea typeface="Microsoft GothicNeo"/>
                <a:cs typeface="Microsoft GothicNeo"/>
              </a:rPr>
              <a:t>제작 과정</a:t>
            </a:r>
            <a:endParaRPr lang="ko-KR" altLang="en-US" dirty="0">
              <a:ea typeface="Microsoft GothicNeo"/>
              <a:cs typeface="Microsoft GothicNeo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CE036D-6934-0DC1-7FE3-10F2A058E044}"/>
              </a:ext>
            </a:extLst>
          </p:cNvPr>
          <p:cNvSpPr>
            <a:spLocks noGrp="1"/>
          </p:cNvSpPr>
          <p:nvPr>
            <p:ph idx="1"/>
          </p:nvPr>
        </p:nvSpPr>
        <p:spPr>
          <a:prstGeom prst="rightArrow">
            <a:avLst/>
          </a:prstGeom>
        </p:spPr>
        <p:txBody>
          <a:bodyPr lIns="109728" tIns="109728" rIns="109728" bIns="91440" anchor="t"/>
          <a:lstStyle/>
          <a:p>
            <a:r>
              <a:rPr lang="ko-KR">
                <a:ea typeface="+mn-lt"/>
                <a:cs typeface="+mn-lt"/>
              </a:rPr>
              <a:t>네트워크 </a:t>
            </a:r>
            <a:r>
              <a:rPr lang="ko-KR" altLang="en-US">
                <a:ea typeface="+mn-lt"/>
                <a:cs typeface="+mn-lt"/>
              </a:rPr>
              <a:t>트래</a:t>
            </a:r>
            <a:endParaRPr lang="ko-KR" altLang="en-US">
              <a:ea typeface="Microsoft GothicNeo"/>
              <a:cs typeface="Microsoft GothicNeo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F3E5528-7595-0E60-A3E8-CCDD81A34659}"/>
              </a:ext>
            </a:extLst>
          </p:cNvPr>
          <p:cNvSpPr/>
          <p:nvPr/>
        </p:nvSpPr>
        <p:spPr>
          <a:xfrm>
            <a:off x="158663" y="3180567"/>
            <a:ext cx="2448838" cy="1457194"/>
          </a:xfrm>
          <a:prstGeom prst="round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ea typeface="Microsoft GothicNeo"/>
                <a:cs typeface="Microsoft GothicNeo"/>
              </a:rPr>
              <a:t>네트워크 트래픽 수집</a:t>
            </a:r>
          </a:p>
          <a:p>
            <a:pPr algn="ctr"/>
            <a:r>
              <a:rPr lang="ko-KR" altLang="en-US">
                <a:ea typeface="Microsoft GothicNeo"/>
                <a:cs typeface="Microsoft GothicNeo"/>
              </a:rPr>
              <a:t>(wireshark, tcpdump)</a:t>
            </a:r>
            <a:endParaRPr lang="ko-KR" altLang="en-US" dirty="0">
              <a:ea typeface="Microsoft GothicNeo"/>
              <a:cs typeface="Microsoft GothicNeo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EF103208-69C1-2594-590E-37867B7BF8E4}"/>
              </a:ext>
            </a:extLst>
          </p:cNvPr>
          <p:cNvSpPr/>
          <p:nvPr/>
        </p:nvSpPr>
        <p:spPr>
          <a:xfrm>
            <a:off x="6098087" y="3201444"/>
            <a:ext cx="2448838" cy="1457194"/>
          </a:xfrm>
          <a:prstGeom prst="round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>
                <a:ea typeface="+mn-lt"/>
                <a:cs typeface="+mn-lt"/>
              </a:rPr>
              <a:t>정상 / 공격 판별</a:t>
            </a:r>
            <a:r>
              <a:rPr lang="ko-KR" altLang="en-US" dirty="0">
                <a:ea typeface="+mn-lt"/>
                <a:cs typeface="+mn-lt"/>
              </a:rPr>
              <a:t> </a:t>
            </a:r>
            <a:endParaRPr lang="ko-KR" altLang="en-US">
              <a:ea typeface="+mn-lt"/>
              <a:cs typeface="+mn-lt"/>
            </a:endParaRPr>
          </a:p>
          <a:p>
            <a:pPr algn="ctr"/>
            <a:r>
              <a:rPr lang="ko-KR" altLang="en-US">
                <a:ea typeface="+mn-lt"/>
                <a:cs typeface="+mn-lt"/>
              </a:rPr>
              <a:t>모델 제작</a:t>
            </a:r>
            <a:endParaRPr lang="ko-KR" altLang="en-US" dirty="0">
              <a:ea typeface="+mn-lt"/>
              <a:cs typeface="+mn-lt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F1B7FDA5-159B-0EFA-F255-53478D05F4E3}"/>
              </a:ext>
            </a:extLst>
          </p:cNvPr>
          <p:cNvSpPr/>
          <p:nvPr/>
        </p:nvSpPr>
        <p:spPr>
          <a:xfrm>
            <a:off x="3123155" y="3201445"/>
            <a:ext cx="2448838" cy="1457194"/>
          </a:xfrm>
          <a:prstGeom prst="round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>
                <a:ea typeface="+mn-lt"/>
                <a:cs typeface="+mn-lt"/>
              </a:rPr>
              <a:t>Flow CSV 생성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E99CDB8B-2F96-9640-01D1-692C1B26CE02}"/>
              </a:ext>
            </a:extLst>
          </p:cNvPr>
          <p:cNvSpPr/>
          <p:nvPr/>
        </p:nvSpPr>
        <p:spPr>
          <a:xfrm>
            <a:off x="9073019" y="3201444"/>
            <a:ext cx="2448838" cy="1457194"/>
          </a:xfrm>
          <a:prstGeom prst="round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dirty="0">
                <a:ea typeface="+mn-lt"/>
                <a:cs typeface="+mn-lt"/>
              </a:rPr>
              <a:t>자동 </a:t>
            </a:r>
            <a:r>
              <a:rPr lang="ko-KR" altLang="en-US">
                <a:ea typeface="+mn-lt"/>
                <a:cs typeface="+mn-lt"/>
              </a:rPr>
              <a:t>대응</a:t>
            </a:r>
            <a:endParaRPr lang="ko-KR">
              <a:ea typeface="+mn-lt"/>
              <a:cs typeface="+mn-lt"/>
            </a:endParaRPr>
          </a:p>
          <a:p>
            <a:pPr algn="ctr"/>
            <a:r>
              <a:rPr lang="ko-KR" altLang="en-US">
                <a:ea typeface="+mn-lt"/>
                <a:cs typeface="+mn-lt"/>
              </a:rPr>
              <a:t>프로그램 제작</a:t>
            </a:r>
            <a:endParaRPr lang="ko-KR">
              <a:ea typeface="Microsoft GothicNeo"/>
              <a:cs typeface="Microsoft GothicNeo"/>
            </a:endParaRPr>
          </a:p>
        </p:txBody>
      </p: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91C6AB38-A413-7187-972D-ACBB61AD4ADC}"/>
              </a:ext>
            </a:extLst>
          </p:cNvPr>
          <p:cNvSpPr/>
          <p:nvPr/>
        </p:nvSpPr>
        <p:spPr>
          <a:xfrm>
            <a:off x="2631866" y="3604217"/>
            <a:ext cx="487807" cy="484632"/>
          </a:xfrm>
          <a:prstGeom prst="rightArrow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화살표: 오른쪽 16">
            <a:extLst>
              <a:ext uri="{FF2B5EF4-FFF2-40B4-BE49-F238E27FC236}">
                <a16:creationId xmlns:a16="http://schemas.microsoft.com/office/drawing/2014/main" id="{B6F82E98-4FD8-484E-41B3-F63FC70E18C2}"/>
              </a:ext>
            </a:extLst>
          </p:cNvPr>
          <p:cNvSpPr/>
          <p:nvPr/>
        </p:nvSpPr>
        <p:spPr>
          <a:xfrm>
            <a:off x="5606797" y="3677285"/>
            <a:ext cx="487807" cy="484632"/>
          </a:xfrm>
          <a:prstGeom prst="rightArrow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FAFE3B0A-DBE0-9349-BD9E-190501A207CA}"/>
              </a:ext>
            </a:extLst>
          </p:cNvPr>
          <p:cNvSpPr/>
          <p:nvPr/>
        </p:nvSpPr>
        <p:spPr>
          <a:xfrm>
            <a:off x="8581727" y="3677285"/>
            <a:ext cx="487807" cy="484632"/>
          </a:xfrm>
          <a:prstGeom prst="rightArrow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50925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EE7AAF-8A14-FE8A-B017-F9478E203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7F34D3-520B-B257-F0EE-6B4E0585E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8" y="909637"/>
            <a:ext cx="6400800" cy="130759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ko-KR" altLang="en-US" cap="all" spc="30"/>
              <a:t>네트워크 트래픽 수집 </a:t>
            </a:r>
            <a:endParaRPr lang="en-US" altLang="ko-KR" cap="all" spc="3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7EF73BFD-783B-9F4D-30D3-B1C413DA67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088" y="2221992"/>
            <a:ext cx="6400800" cy="3739896"/>
          </a:xfrm>
        </p:spPr>
        <p:txBody>
          <a:bodyPr lIns="109728" tIns="109728" rIns="109728" bIns="91440" anchor="t">
            <a:normAutofit/>
          </a:bodyPr>
          <a:lstStyle/>
          <a:p>
            <a:pPr>
              <a:buNone/>
            </a:pPr>
            <a:r>
              <a:rPr lang="ko-KR" b="1">
                <a:ea typeface="+mn-lt"/>
                <a:cs typeface="+mn-lt"/>
              </a:rPr>
              <a:t>1. 전체 수집 개요</a:t>
            </a:r>
            <a:r>
              <a:rPr lang="ko-KR" altLang="en-US" b="1" dirty="0">
                <a:ea typeface="+mn-lt"/>
                <a:cs typeface="+mn-lt"/>
              </a:rPr>
              <a:t>                          </a:t>
            </a:r>
            <a:endParaRPr lang="ko-KR" dirty="0">
              <a:ea typeface="+mn-lt"/>
              <a:cs typeface="+mn-lt"/>
            </a:endParaRPr>
          </a:p>
          <a:p>
            <a:pPr>
              <a:buNone/>
            </a:pPr>
            <a:r>
              <a:rPr lang="ko-KR" altLang="en-US" b="1" dirty="0">
                <a:ea typeface="+mn-lt"/>
                <a:cs typeface="+mn-lt"/>
              </a:rPr>
              <a:t>                    </a:t>
            </a:r>
            <a:endParaRPr lang="ko-KR" dirty="0">
              <a:ea typeface="Microsoft GothicNeo"/>
              <a:cs typeface="Microsoft GothicNeo"/>
            </a:endParaRPr>
          </a:p>
          <a:p>
            <a:pPr>
              <a:buFont typeface="Arial"/>
              <a:buChar char="•"/>
            </a:pPr>
            <a:r>
              <a:rPr lang="ko-KR">
                <a:ea typeface="+mn-lt"/>
                <a:cs typeface="+mn-lt"/>
              </a:rPr>
              <a:t>총 10가지 환경에서 데이터 직접 수집 </a:t>
            </a:r>
          </a:p>
          <a:p>
            <a:pPr>
              <a:buFont typeface="Arial"/>
              <a:buChar char="•"/>
            </a:pPr>
            <a:endParaRPr lang="ko-KR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ko-KR">
                <a:ea typeface="+mn-lt"/>
                <a:cs typeface="+mn-lt"/>
              </a:rPr>
              <a:t>각 환경당 10분씩 진행 </a:t>
            </a:r>
            <a:endParaRPr lang="ko-KR">
              <a:ea typeface="Microsoft GothicNeo"/>
              <a:cs typeface="Microsoft GothicNeo"/>
            </a:endParaRPr>
          </a:p>
          <a:p>
            <a:pPr>
              <a:buFont typeface="Arial"/>
              <a:buChar char="•"/>
            </a:pPr>
            <a:endParaRPr lang="ko-KR" altLang="en-US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ko-KR" b="1">
                <a:ea typeface="+mn-lt"/>
                <a:cs typeface="+mn-lt"/>
              </a:rPr>
              <a:t>총 수집 시간: 100분 (pcap 파일 생성)</a:t>
            </a:r>
            <a:r>
              <a:rPr lang="ko-KR" dirty="0">
                <a:ea typeface="+mn-lt"/>
                <a:cs typeface="+mn-lt"/>
              </a:rPr>
              <a:t> </a:t>
            </a:r>
            <a:endParaRPr lang="ko-KR" dirty="0">
              <a:ea typeface="Microsoft GothicNeo"/>
              <a:cs typeface="Microsoft GothicNeo"/>
            </a:endParaRPr>
          </a:p>
          <a:p>
            <a:pPr indent="0">
              <a:buNone/>
            </a:pPr>
            <a:endParaRPr lang="ko-KR" b="1">
              <a:ea typeface="Microsoft GothicNeo"/>
              <a:cs typeface="Microsoft GothicNeo"/>
            </a:endParaRPr>
          </a:p>
          <a:p>
            <a:pPr>
              <a:buFont typeface="Arial"/>
              <a:buChar char="•"/>
            </a:pPr>
            <a:endParaRPr lang="ko-KR">
              <a:ea typeface="Microsoft GothicNeo"/>
              <a:cs typeface="Microsoft GothicNeo"/>
            </a:endParaRPr>
          </a:p>
          <a:p>
            <a:pPr marL="0" indent="0">
              <a:buNone/>
            </a:pPr>
            <a:endParaRPr lang="ko-KR" altLang="en-US">
              <a:ea typeface="Microsoft GothicNeo"/>
              <a:cs typeface="Microsoft GothicNeo"/>
            </a:endParaRPr>
          </a:p>
        </p:txBody>
      </p:sp>
      <p:pic>
        <p:nvPicPr>
          <p:cNvPr id="3" name="그림 2" descr="와이어샤크란? #1 (Whireshark) (쉬운 설명, 설치, 정의, 개념, 용도) :: JD Tech Now">
            <a:extLst>
              <a:ext uri="{FF2B5EF4-FFF2-40B4-BE49-F238E27FC236}">
                <a16:creationId xmlns:a16="http://schemas.microsoft.com/office/drawing/2014/main" id="{4FD4331B-02AB-6266-30DC-C731A8ED9A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6920" y="2401627"/>
            <a:ext cx="3903980" cy="2052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409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726D50-B5FB-CD90-5053-13B2FE300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1237DD-270F-A0B7-5701-B1A45211B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7"/>
            <a:ext cx="5257951" cy="131673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ko-KR" altLang="en-US" cap="all" spc="30"/>
              <a:t>네트워크 트래픽 수집 종류</a:t>
            </a:r>
            <a:endParaRPr lang="en-US" altLang="ko-KR" cap="all" spc="3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E384607F-DE3E-9AEC-9395-700C0BF718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087" y="2226373"/>
            <a:ext cx="5257951" cy="3603211"/>
          </a:xfrm>
        </p:spPr>
        <p:txBody>
          <a:bodyPr lIns="109728" tIns="109728" rIns="109728" bIns="91440">
            <a:normAutofit/>
          </a:bodyPr>
          <a:lstStyle/>
          <a:p>
            <a:pPr>
              <a:lnSpc>
                <a:spcPct val="110000"/>
              </a:lnSpc>
              <a:buNone/>
            </a:pPr>
            <a:r>
              <a:rPr lang="ko-KR" sz="1100" b="1">
                <a:ea typeface="+mn-lt"/>
                <a:cs typeface="+mn-lt"/>
              </a:rPr>
              <a:t>1.</a:t>
            </a:r>
            <a:r>
              <a:rPr lang="ko-KR" altLang="en-US" sz="1100" b="1">
                <a:ea typeface="+mn-lt"/>
                <a:cs typeface="+mn-lt"/>
              </a:rPr>
              <a:t> 웹 브라우징                    </a:t>
            </a:r>
            <a:endParaRPr lang="ko-KR" sz="1100">
              <a:ea typeface="+mn-lt"/>
              <a:cs typeface="+mn-lt"/>
            </a:endParaRPr>
          </a:p>
          <a:p>
            <a:pPr>
              <a:lnSpc>
                <a:spcPct val="110000"/>
              </a:lnSpc>
              <a:buFont typeface="Arial"/>
              <a:buChar char="•"/>
            </a:pPr>
            <a:r>
              <a:rPr lang="ko-KR" altLang="en-US" sz="1100">
                <a:ea typeface="Microsoft GothicNeo"/>
                <a:cs typeface="Microsoft GothicNeo"/>
              </a:rPr>
              <a:t>영상 스트리밍                         소프트웨어 업데이트</a:t>
            </a:r>
            <a:endParaRPr lang="ko-KR" sz="1100">
              <a:ea typeface="Microsoft GothicNeo"/>
              <a:cs typeface="Microsoft GothicNeo"/>
            </a:endParaRPr>
          </a:p>
          <a:p>
            <a:pPr>
              <a:lnSpc>
                <a:spcPct val="110000"/>
              </a:lnSpc>
              <a:buFont typeface="Arial"/>
              <a:buChar char="•"/>
            </a:pPr>
            <a:r>
              <a:rPr lang="ko-KR" altLang="en-US" sz="1100">
                <a:ea typeface="+mn-lt"/>
                <a:cs typeface="+mn-lt"/>
              </a:rPr>
              <a:t>파일 다운로드                          화상 회의</a:t>
            </a:r>
          </a:p>
          <a:p>
            <a:pPr>
              <a:lnSpc>
                <a:spcPct val="110000"/>
              </a:lnSpc>
              <a:buFont typeface="Arial"/>
              <a:buChar char="•"/>
            </a:pPr>
            <a:r>
              <a:rPr lang="ko-KR" altLang="en-US" sz="1100">
                <a:ea typeface="+mn-lt"/>
                <a:cs typeface="+mn-lt"/>
              </a:rPr>
              <a:t>파일 업로드                             웹 API </a:t>
            </a:r>
          </a:p>
          <a:p>
            <a:pPr>
              <a:lnSpc>
                <a:spcPct val="110000"/>
              </a:lnSpc>
              <a:buFont typeface="Arial"/>
              <a:buChar char="•"/>
            </a:pPr>
            <a:r>
              <a:rPr lang="ko-KR" altLang="en-US" sz="1100">
                <a:ea typeface="+mn-lt"/>
                <a:cs typeface="+mn-lt"/>
              </a:rPr>
              <a:t>클라우드 서비스</a:t>
            </a:r>
          </a:p>
          <a:p>
            <a:pPr>
              <a:lnSpc>
                <a:spcPct val="110000"/>
              </a:lnSpc>
              <a:buFont typeface="Arial"/>
              <a:buChar char="•"/>
            </a:pPr>
            <a:r>
              <a:rPr lang="ko-KR" altLang="en-US" sz="1100">
                <a:ea typeface="+mn-lt"/>
                <a:cs typeface="+mn-lt"/>
              </a:rPr>
              <a:t>메신저</a:t>
            </a:r>
          </a:p>
          <a:p>
            <a:pPr>
              <a:lnSpc>
                <a:spcPct val="110000"/>
              </a:lnSpc>
              <a:buFont typeface="Arial"/>
              <a:buChar char="•"/>
            </a:pPr>
            <a:r>
              <a:rPr lang="ko-KR" altLang="en-US" sz="1100">
                <a:ea typeface="+mn-lt"/>
                <a:cs typeface="+mn-lt"/>
              </a:rPr>
              <a:t>온라인 게임</a:t>
            </a:r>
          </a:p>
          <a:p>
            <a:pPr>
              <a:lnSpc>
                <a:spcPct val="110000"/>
              </a:lnSpc>
              <a:buFont typeface="Arial"/>
              <a:buChar char="•"/>
            </a:pPr>
            <a:endParaRPr lang="ko-KR" altLang="en-US" sz="1100">
              <a:ea typeface="+mn-lt"/>
              <a:cs typeface="+mn-lt"/>
            </a:endParaRPr>
          </a:p>
          <a:p>
            <a:pPr>
              <a:lnSpc>
                <a:spcPct val="110000"/>
              </a:lnSpc>
              <a:buFont typeface="Arial"/>
              <a:buChar char="•"/>
            </a:pPr>
            <a:r>
              <a:rPr lang="ko-KR" sz="1100">
                <a:ea typeface="+mn-lt"/>
                <a:cs typeface="+mn-lt"/>
              </a:rPr>
              <a:t>각 환경당 10분씩 진행 </a:t>
            </a:r>
            <a:endParaRPr lang="ko-KR" sz="1100">
              <a:ea typeface="Microsoft GothicNeo"/>
              <a:cs typeface="Microsoft GothicNeo"/>
            </a:endParaRPr>
          </a:p>
          <a:p>
            <a:pPr>
              <a:lnSpc>
                <a:spcPct val="110000"/>
              </a:lnSpc>
              <a:buFont typeface="Arial"/>
              <a:buChar char="•"/>
            </a:pPr>
            <a:endParaRPr lang="ko-KR" altLang="en-US" sz="1100">
              <a:ea typeface="+mn-lt"/>
              <a:cs typeface="+mn-lt"/>
            </a:endParaRPr>
          </a:p>
          <a:p>
            <a:pPr>
              <a:lnSpc>
                <a:spcPct val="110000"/>
              </a:lnSpc>
              <a:buFont typeface="Arial"/>
              <a:buChar char="•"/>
            </a:pPr>
            <a:r>
              <a:rPr lang="ko-KR" sz="1100" b="1">
                <a:ea typeface="+mn-lt"/>
                <a:cs typeface="+mn-lt"/>
              </a:rPr>
              <a:t>총 수집 시간: 100분 (pcap 파일 생성)</a:t>
            </a:r>
            <a:r>
              <a:rPr lang="ko-KR" sz="1100">
                <a:ea typeface="+mn-lt"/>
                <a:cs typeface="+mn-lt"/>
              </a:rPr>
              <a:t> </a:t>
            </a:r>
            <a:endParaRPr lang="ko-KR" sz="1100">
              <a:ea typeface="Microsoft GothicNeo"/>
              <a:cs typeface="Microsoft GothicNeo"/>
            </a:endParaRPr>
          </a:p>
          <a:p>
            <a:pPr indent="0">
              <a:lnSpc>
                <a:spcPct val="110000"/>
              </a:lnSpc>
              <a:buNone/>
            </a:pPr>
            <a:endParaRPr lang="ko-KR" sz="1100" b="1">
              <a:ea typeface="Microsoft GothicNeo"/>
              <a:cs typeface="Microsoft GothicNeo"/>
            </a:endParaRPr>
          </a:p>
          <a:p>
            <a:pPr>
              <a:lnSpc>
                <a:spcPct val="110000"/>
              </a:lnSpc>
              <a:buFont typeface="Arial"/>
              <a:buChar char="•"/>
            </a:pPr>
            <a:endParaRPr lang="ko-KR" sz="1100">
              <a:ea typeface="Microsoft GothicNeo"/>
              <a:cs typeface="Microsoft GothicNeo"/>
            </a:endParaRPr>
          </a:p>
          <a:p>
            <a:pPr marL="0" indent="0">
              <a:lnSpc>
                <a:spcPct val="110000"/>
              </a:lnSpc>
              <a:buNone/>
            </a:pPr>
            <a:endParaRPr lang="ko-KR" altLang="en-US" sz="1100">
              <a:ea typeface="Microsoft GothicNeo"/>
              <a:cs typeface="Microsoft GothicNeo"/>
            </a:endParaRPr>
          </a:p>
        </p:txBody>
      </p:sp>
      <p:pic>
        <p:nvPicPr>
          <p:cNvPr id="8" name="그림 7" descr="줌 아이콘 인기 메신저 앱 커뮤니케이션 플랫폼 | 프리미엄 벡터">
            <a:extLst>
              <a:ext uri="{FF2B5EF4-FFF2-40B4-BE49-F238E27FC236}">
                <a16:creationId xmlns:a16="http://schemas.microsoft.com/office/drawing/2014/main" id="{4FCDE05F-7E50-94DF-C864-0833F8C57E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841" r="6909" b="3"/>
          <a:stretch>
            <a:fillRect/>
          </a:stretch>
        </p:blipFill>
        <p:spPr>
          <a:xfrm>
            <a:off x="6512442" y="1075887"/>
            <a:ext cx="2358250" cy="2734111"/>
          </a:xfrm>
          <a:prstGeom prst="rect">
            <a:avLst/>
          </a:prstGeom>
        </p:spPr>
      </p:pic>
      <p:pic>
        <p:nvPicPr>
          <p:cNvPr id="6" name="그림 5" descr="카카오톡 - Windows에서 다운로드 및 설치 | Microsoft Store">
            <a:extLst>
              <a:ext uri="{FF2B5EF4-FFF2-40B4-BE49-F238E27FC236}">
                <a16:creationId xmlns:a16="http://schemas.microsoft.com/office/drawing/2014/main" id="{CE622745-C62D-2E1D-DA65-C4B2F936F2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718" r="-4" b="13671"/>
          <a:stretch>
            <a:fillRect/>
          </a:stretch>
        </p:blipFill>
        <p:spPr>
          <a:xfrm>
            <a:off x="9031559" y="1075887"/>
            <a:ext cx="2360341" cy="1808210"/>
          </a:xfrm>
          <a:prstGeom prst="rect">
            <a:avLst/>
          </a:prstGeom>
        </p:spPr>
      </p:pic>
      <p:pic>
        <p:nvPicPr>
          <p:cNvPr id="5" name="그림 4" descr="분류:웹 브라우저 - 나무위키">
            <a:extLst>
              <a:ext uri="{FF2B5EF4-FFF2-40B4-BE49-F238E27FC236}">
                <a16:creationId xmlns:a16="http://schemas.microsoft.com/office/drawing/2014/main" id="{6BF0CE44-99ED-664C-7C27-20C02963D96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0843" r="-1" b="11304"/>
          <a:stretch>
            <a:fillRect/>
          </a:stretch>
        </p:blipFill>
        <p:spPr>
          <a:xfrm>
            <a:off x="6512442" y="3974831"/>
            <a:ext cx="2358250" cy="1835946"/>
          </a:xfrm>
          <a:prstGeom prst="rect">
            <a:avLst/>
          </a:prstGeom>
        </p:spPr>
      </p:pic>
      <p:pic>
        <p:nvPicPr>
          <p:cNvPr id="4" name="그림 3" descr="유튜브 - 나무위키">
            <a:extLst>
              <a:ext uri="{FF2B5EF4-FFF2-40B4-BE49-F238E27FC236}">
                <a16:creationId xmlns:a16="http://schemas.microsoft.com/office/drawing/2014/main" id="{C546BDA2-CC1B-D5B5-EFFC-8F64D13DE08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9158" r="22602" b="2"/>
          <a:stretch>
            <a:fillRect/>
          </a:stretch>
        </p:blipFill>
        <p:spPr>
          <a:xfrm>
            <a:off x="9031559" y="3048001"/>
            <a:ext cx="2360341" cy="2781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1244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Straight Connector 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1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9" name="Rectangle 13">
            <a:extLst>
              <a:ext uri="{FF2B5EF4-FFF2-40B4-BE49-F238E27FC236}">
                <a16:creationId xmlns:a16="http://schemas.microsoft.com/office/drawing/2014/main" id="{341BFA31-6544-45C2-9DA0-9E1C5E0B19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D6622FF-C347-9501-8B1B-825B06C8A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871759"/>
            <a:ext cx="10925176" cy="112887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 sz="5400" cap="all" spc="30"/>
              <a:t>제작과정</a:t>
            </a:r>
            <a:r>
              <a:rPr lang="en-US" altLang="ko-KR" sz="5400" cap="all" spc="30"/>
              <a:t>(</a:t>
            </a:r>
            <a:r>
              <a:rPr lang="ko-KR" altLang="en-US" sz="5400" cap="all" spc="30"/>
              <a:t>네트워크 트래픽 정보 수집</a:t>
            </a:r>
            <a:r>
              <a:rPr lang="en-US" altLang="ko-KR" sz="5400" cap="all" spc="30"/>
              <a:t>)</a:t>
            </a:r>
          </a:p>
        </p:txBody>
      </p:sp>
      <p:cxnSp>
        <p:nvCxnSpPr>
          <p:cNvPr id="30" name="Straight Connector 15">
            <a:extLst>
              <a:ext uri="{FF2B5EF4-FFF2-40B4-BE49-F238E27FC236}">
                <a16:creationId xmlns:a16="http://schemas.microsoft.com/office/drawing/2014/main" id="{DC36F877-5419-44C1-A2CD-376BDDDC3E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8E0FF4A-4CCD-D6FA-35BE-7077B53260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4346" y="2496648"/>
            <a:ext cx="5085200" cy="3384367"/>
          </a:xfrm>
          <a:prstGeom prst="rect">
            <a:avLst/>
          </a:prstGeom>
        </p:spPr>
      </p:pic>
      <p:pic>
        <p:nvPicPr>
          <p:cNvPr id="4" name="내용 개체 틀 3" descr="텍스트, 전자제품, 스크린샷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EDCE31C-4E95-AD26-65F6-DE9C848640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14090" y="2494968"/>
            <a:ext cx="5462887" cy="3377288"/>
          </a:xfrm>
          <a:prstGeom prst="rect">
            <a:avLst/>
          </a:prstGeom>
        </p:spPr>
      </p:pic>
      <p:cxnSp>
        <p:nvCxnSpPr>
          <p:cNvPr id="31" name="Straight Connector 17">
            <a:extLst>
              <a:ext uri="{FF2B5EF4-FFF2-40B4-BE49-F238E27FC236}">
                <a16:creationId xmlns:a16="http://schemas.microsoft.com/office/drawing/2014/main" id="{44B21692-652C-4371-95C5-05248EF342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7890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C3A113BF-A7D6-8325-C99C-0831E190D160}"/>
              </a:ext>
            </a:extLst>
          </p:cNvPr>
          <p:cNvSpPr/>
          <p:nvPr/>
        </p:nvSpPr>
        <p:spPr>
          <a:xfrm>
            <a:off x="5919947" y="3426766"/>
            <a:ext cx="759203" cy="756029"/>
          </a:xfrm>
          <a:prstGeom prst="rightArrow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94192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1E1C6-A27F-14AB-098F-317275B61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B25304-B6F9-470A-118C-70565A26D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125" y="766984"/>
            <a:ext cx="10925176" cy="1128876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ko-KR" altLang="en-US" cap="all" spc="30"/>
              <a:t>학습 모델 생성 과정</a:t>
            </a:r>
            <a:r>
              <a:rPr lang="ko-KR" altLang="en-US" sz="5400" cap="all" spc="30"/>
              <a:t>  </a:t>
            </a:r>
            <a:br>
              <a:rPr lang="ko-KR" altLang="en-US" sz="5400" cap="all" spc="30" dirty="0"/>
            </a:br>
            <a:br>
              <a:rPr lang="ko-KR" altLang="en-US" sz="5400" cap="all" spc="30" dirty="0"/>
            </a:br>
            <a:endParaRPr lang="ko-KR" altLang="en-US" sz="5400" cap="all" spc="30">
              <a:ea typeface="Microsoft GothicNeo"/>
              <a:cs typeface="Microsoft GothicNeo"/>
            </a:endParaRP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8780ABD5-DF33-FE99-3E8E-2E6898863C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124" y="1891792"/>
            <a:ext cx="10691265" cy="3739896"/>
          </a:xfrm>
        </p:spPr>
        <p:txBody>
          <a:bodyPr lIns="109728" tIns="109728" rIns="109728" bIns="91440" anchor="t"/>
          <a:lstStyle/>
          <a:p>
            <a:pPr marL="457200" indent="-457200">
              <a:buAutoNum type="arabicPeriod"/>
            </a:pPr>
            <a:endParaRPr lang="ko-KR" altLang="en-US">
              <a:ea typeface="Microsoft GothicNeo"/>
              <a:cs typeface="Microsoft GothicNeo"/>
            </a:endParaRPr>
          </a:p>
          <a:p>
            <a:pPr marL="457200" indent="-457200">
              <a:buAutoNum type="arabicPeriod"/>
            </a:pPr>
            <a:endParaRPr lang="ko-KR" altLang="en-US">
              <a:ea typeface="Microsoft GothicNeo"/>
              <a:cs typeface="Microsoft GothicNe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7C68AA-0F9F-09E5-94AD-C552567E7A1A}"/>
              </a:ext>
            </a:extLst>
          </p:cNvPr>
          <p:cNvSpPr txBox="1"/>
          <p:nvPr/>
        </p:nvSpPr>
        <p:spPr>
          <a:xfrm>
            <a:off x="724238" y="5354802"/>
            <a:ext cx="677037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>
                <a:ea typeface="Microsoft GothicNeo"/>
                <a:cs typeface="Microsoft GothicNeo"/>
              </a:rPr>
              <a:t>                               AI 모델을 생성하는 train.py  코드</a:t>
            </a:r>
            <a:endParaRPr lang="ko-KR" altLang="en-US"/>
          </a:p>
        </p:txBody>
      </p:sp>
      <p:pic>
        <p:nvPicPr>
          <p:cNvPr id="9" name="그림 8" descr="텍스트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594F13F-B84B-BFE7-393E-904CEA25CC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588" y="1619250"/>
            <a:ext cx="3867150" cy="3733800"/>
          </a:xfrm>
          <a:prstGeom prst="rect">
            <a:avLst/>
          </a:prstGeom>
        </p:spPr>
      </p:pic>
      <p:pic>
        <p:nvPicPr>
          <p:cNvPr id="10" name="그림 9" descr="텍스트, 스크린샷, 소프트웨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AA5F09D-7B58-F5B3-3D7B-2A23C84FCA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6788" y="1619250"/>
            <a:ext cx="3686175" cy="37338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21EDB83-42EF-9D1E-2ABC-8F872B5A6725}"/>
              </a:ext>
            </a:extLst>
          </p:cNvPr>
          <p:cNvSpPr txBox="1"/>
          <p:nvPr/>
        </p:nvSpPr>
        <p:spPr>
          <a:xfrm>
            <a:off x="8690860" y="1714297"/>
            <a:ext cx="3500866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endParaRPr lang="ko-KR" altLang="en-US">
              <a:ea typeface="+mn-lt"/>
              <a:cs typeface="+mn-lt"/>
            </a:endParaRPr>
          </a:p>
          <a:p>
            <a:pPr marL="342900" indent="-342900">
              <a:buAutoNum type="arabicPeriod"/>
            </a:pPr>
            <a:endParaRPr lang="ko-KR" altLang="en-US" dirty="0">
              <a:ea typeface="+mn-lt"/>
              <a:cs typeface="+mn-lt"/>
            </a:endParaRPr>
          </a:p>
          <a:p>
            <a:pPr marL="342900" indent="-342900">
              <a:buAutoNum type="arabicPeriod"/>
            </a:pPr>
            <a:endParaRPr lang="ko-KR" altLang="en-US" dirty="0">
              <a:ea typeface="+mn-lt"/>
              <a:cs typeface="+mn-lt"/>
            </a:endParaRPr>
          </a:p>
          <a:p>
            <a:pPr marL="342900" indent="-342900">
              <a:buAutoNum type="arabicPeriod"/>
            </a:pPr>
            <a:r>
              <a:rPr lang="ko-KR">
                <a:ea typeface="+mn-lt"/>
                <a:cs typeface="+mn-lt"/>
              </a:rPr>
              <a:t>정상 트래픽 데이터를 기반으로 학습하는 비지도 학습 모델</a:t>
            </a:r>
            <a:endParaRPr lang="ko-KR" dirty="0">
              <a:ea typeface="Microsoft GothicNeo"/>
              <a:cs typeface="Microsoft GothicNeo"/>
            </a:endParaRPr>
          </a:p>
          <a:p>
            <a:pPr marL="342900" indent="-342900">
              <a:buAutoNum type="arabicPeriod"/>
            </a:pPr>
            <a:endParaRPr lang="ko-KR" dirty="0">
              <a:ea typeface="Microsoft GothicNeo"/>
              <a:cs typeface="Microsoft GothicNeo"/>
            </a:endParaRPr>
          </a:p>
          <a:p>
            <a:pPr marL="342900" indent="-342900">
              <a:buAutoNum type="arabicPeriod"/>
            </a:pPr>
            <a:endParaRPr lang="ko-KR" altLang="en-US" dirty="0">
              <a:ea typeface="+mn-lt"/>
              <a:cs typeface="+mn-lt"/>
            </a:endParaRPr>
          </a:p>
          <a:p>
            <a:pPr marL="342900" indent="-342900">
              <a:buAutoNum type="arabicPeriod"/>
            </a:pPr>
            <a:r>
              <a:rPr lang="ko-KR">
                <a:ea typeface="+mn-lt"/>
                <a:cs typeface="+mn-lt"/>
              </a:rPr>
              <a:t>scikit-learn의 Isolation Forest를 사용하여 이상 트래픽을 탐지</a:t>
            </a:r>
            <a:endParaRPr lang="ko-KR" altLang="en-US" dirty="0">
              <a:ea typeface="Microsoft GothicNeo"/>
              <a:cs typeface="Microsoft GothicNeo"/>
            </a:endParaRPr>
          </a:p>
          <a:p>
            <a:pPr marL="342900" indent="-342900">
              <a:buAutoNum type="arabicPeriod"/>
            </a:pPr>
            <a:endParaRPr lang="ko-KR" altLang="en-US" dirty="0">
              <a:ea typeface="Microsoft GothicNeo"/>
              <a:cs typeface="Microsoft GothicNeo"/>
            </a:endParaRPr>
          </a:p>
        </p:txBody>
      </p:sp>
    </p:spTree>
    <p:extLst>
      <p:ext uri="{BB962C8B-B14F-4D97-AF65-F5344CB8AC3E}">
        <p14:creationId xmlns:p14="http://schemas.microsoft.com/office/powerpoint/2010/main" val="19861295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74C5ED-7E68-81E3-DA4E-D7DE1D4DF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ea typeface="Microsoft GothicNeo"/>
                <a:cs typeface="Microsoft GothicNeo"/>
              </a:rPr>
              <a:t>프로그램 GUI 초본</a:t>
            </a:r>
            <a:endParaRPr lang="ko-KR" altLang="en-US" dirty="0">
              <a:ea typeface="Microsoft GothicNeo"/>
              <a:cs typeface="Microsoft GothicNeo"/>
            </a:endParaRPr>
          </a:p>
        </p:txBody>
      </p:sp>
      <p:pic>
        <p:nvPicPr>
          <p:cNvPr id="4" name="내용 개체 틀 3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308C8C9-8FC9-6260-8C48-EEA230DF3C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9615" y="2226085"/>
            <a:ext cx="5134672" cy="3722416"/>
          </a:xfrm>
          <a:prstGeom prst="rect">
            <a:avLst/>
          </a:prstGeom>
        </p:spPr>
      </p:pic>
      <p:pic>
        <p:nvPicPr>
          <p:cNvPr id="5" name="그림 4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DF8FEDC-20FA-09C1-8D52-52641568BE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264" y="2226876"/>
            <a:ext cx="5146985" cy="3723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5395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78EB459-3385-4BF6-A9E1-154CBA251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5508488-FA18-99F9-804E-D29741A03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0667"/>
            <a:ext cx="3985731" cy="131673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ko-KR" altLang="en-US">
                <a:ea typeface="Microsoft GothicNeo"/>
                <a:cs typeface="Microsoft GothicNeo"/>
              </a:rPr>
              <a:t>무결성 블록체인 DApp 구현 </a:t>
            </a:r>
            <a:endParaRPr lang="ko-KR" alt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DC20223-0542-4FF7-8F2F-136889161E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825CF95-AB69-6799-65DE-1B7FC42E5F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227403"/>
            <a:ext cx="3985732" cy="3934097"/>
          </a:xfrm>
        </p:spPr>
        <p:txBody>
          <a:bodyPr lIns="109728" tIns="109728" rIns="109728" bIns="91440" anchor="t">
            <a:normAutofit/>
          </a:bodyPr>
          <a:lstStyle/>
          <a:p>
            <a:pPr marL="457200" indent="-457200">
              <a:buAutoNum type="arabicPeriod"/>
            </a:pPr>
            <a:r>
              <a:rPr lang="ko-KR" altLang="en-US">
                <a:ea typeface="Microsoft GothicNeo"/>
                <a:cs typeface="Microsoft GothicNeo"/>
              </a:rPr>
              <a:t> 스마트 컨트랙트 활용</a:t>
            </a:r>
            <a:endParaRPr lang="ko-KR" altLang="en-US" dirty="0">
              <a:ea typeface="Microsoft GothicNeo"/>
              <a:cs typeface="Microsoft GothicNeo"/>
            </a:endParaRPr>
          </a:p>
          <a:p>
            <a:pPr marL="457200" indent="-457200">
              <a:buAutoNum type="arabicPeriod"/>
            </a:pPr>
            <a:endParaRPr lang="ko-KR" altLang="en-US" dirty="0">
              <a:ea typeface="Microsoft GothicNeo"/>
              <a:cs typeface="Microsoft GothicNeo"/>
            </a:endParaRPr>
          </a:p>
          <a:p>
            <a:pPr marL="457200" indent="-457200">
              <a:buAutoNum type="arabicPeriod"/>
            </a:pPr>
            <a:r>
              <a:rPr lang="ko-KR" altLang="en-US">
                <a:ea typeface="Microsoft GothicNeo"/>
                <a:cs typeface="Microsoft GothicNeo"/>
              </a:rPr>
              <a:t>차단된 IP를 블록체인에 기록</a:t>
            </a:r>
            <a:endParaRPr lang="en-US">
              <a:ea typeface="Microsoft GothicNeo"/>
              <a:cs typeface="Microsoft GothicNeo"/>
            </a:endParaRPr>
          </a:p>
          <a:p>
            <a:pPr marL="0" indent="0">
              <a:buNone/>
            </a:pPr>
            <a:endParaRPr lang="ko-KR" altLang="en-US" dirty="0">
              <a:ea typeface="Microsoft GothicNeo"/>
              <a:cs typeface="Microsoft GothicNeo"/>
            </a:endParaRPr>
          </a:p>
          <a:p>
            <a:pPr marL="0" indent="0">
              <a:buNone/>
            </a:pPr>
            <a:r>
              <a:rPr lang="ko-KR" altLang="en-US">
                <a:ea typeface="Microsoft GothicNeo"/>
                <a:cs typeface="Microsoft GothicNeo"/>
              </a:rPr>
              <a:t>3.    로그 조작 공격에 방어 가능</a:t>
            </a:r>
          </a:p>
          <a:p>
            <a:pPr marL="0" indent="0">
              <a:buNone/>
            </a:pPr>
            <a:endParaRPr lang="ko-KR" altLang="en-US" dirty="0">
              <a:ea typeface="Microsoft GothicNeo"/>
              <a:cs typeface="Microsoft GothicNeo"/>
            </a:endParaRPr>
          </a:p>
          <a:p>
            <a:pPr marL="0" indent="0">
              <a:buNone/>
            </a:pPr>
            <a:r>
              <a:rPr lang="ko-KR" altLang="en-US">
                <a:ea typeface="Microsoft GothicNeo"/>
                <a:cs typeface="Microsoft GothicNeo"/>
              </a:rPr>
              <a:t>4.    데이터 무결성 확보 가능</a:t>
            </a:r>
          </a:p>
        </p:txBody>
      </p:sp>
      <p:pic>
        <p:nvPicPr>
          <p:cNvPr id="4" name="내용 개체 틀 3" descr="Ganache Logo PNG Vector (SVG) Free Download">
            <a:extLst>
              <a:ext uri="{FF2B5EF4-FFF2-40B4-BE49-F238E27FC236}">
                <a16:creationId xmlns:a16="http://schemas.microsoft.com/office/drawing/2014/main" id="{2F9EC81A-64B9-8DDD-674D-EDDD7629AC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760" r="1" b="5327"/>
          <a:stretch>
            <a:fillRect/>
          </a:stretch>
        </p:blipFill>
        <p:spPr>
          <a:xfrm>
            <a:off x="5361050" y="10"/>
            <a:ext cx="3359905" cy="2819390"/>
          </a:xfrm>
          <a:prstGeom prst="rect">
            <a:avLst/>
          </a:prstGeom>
        </p:spPr>
      </p:pic>
      <p:pic>
        <p:nvPicPr>
          <p:cNvPr id="7" name="그림 6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D850AE7-0EF7-8CDC-9229-F5084C5C59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248" r="41886"/>
          <a:stretch>
            <a:fillRect/>
          </a:stretch>
        </p:blipFill>
        <p:spPr>
          <a:xfrm>
            <a:off x="8720470" y="10"/>
            <a:ext cx="3471533" cy="2819390"/>
          </a:xfrm>
          <a:prstGeom prst="rect">
            <a:avLst/>
          </a:prstGeom>
        </p:spPr>
      </p:pic>
      <p:pic>
        <p:nvPicPr>
          <p:cNvPr id="6" name="그림 5" descr="Default Accounts">
            <a:extLst>
              <a:ext uri="{FF2B5EF4-FFF2-40B4-BE49-F238E27FC236}">
                <a16:creationId xmlns:a16="http://schemas.microsoft.com/office/drawing/2014/main" id="{5F8C045B-7290-4203-37D7-107472F844F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0765" r="2" b="2"/>
          <a:stretch>
            <a:fillRect/>
          </a:stretch>
        </p:blipFill>
        <p:spPr>
          <a:xfrm>
            <a:off x="5360564" y="2819400"/>
            <a:ext cx="6831431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9586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D52D59-CB46-5E8A-FD66-CD77E0B54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9785" y="1791222"/>
            <a:ext cx="10691265" cy="1307592"/>
          </a:xfrm>
        </p:spPr>
        <p:txBody>
          <a:bodyPr/>
          <a:lstStyle/>
          <a:p>
            <a:br>
              <a:rPr lang="ko-KR" altLang="en-US" sz="6000" dirty="0">
                <a:ea typeface="Microsoft GothicNeo"/>
                <a:cs typeface="Microsoft GothicNeo"/>
              </a:rPr>
            </a:br>
            <a:r>
              <a:rPr lang="ko-KR" altLang="en-US" sz="6000">
                <a:ea typeface="Microsoft GothicNeo"/>
                <a:cs typeface="Microsoft GothicNeo"/>
              </a:rPr>
              <a:t>감사합니다.</a:t>
            </a:r>
            <a:endParaRPr lang="ko-KR" altLang="en-US" sz="600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F2873D-B33F-49C1-4405-B6332EE949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109728" tIns="109728" rIns="109728" bIns="91440" anchor="t"/>
          <a:lstStyle/>
          <a:p>
            <a:pPr marL="0" indent="0">
              <a:buNone/>
            </a:pPr>
            <a:r>
              <a:rPr lang="ko-KR" altLang="en-US" dirty="0">
                <a:ea typeface="Microsoft GothicNeo"/>
                <a:cs typeface="Microsoft GothicNeo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900834817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Microsoft GothicNeo"/>
        <a:ea typeface=""/>
        <a:cs typeface=""/>
      </a:majorFont>
      <a:minorFont>
        <a:latin typeface="Microsoft GothicNe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11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2" baseType="lpstr">
      <vt:lpstr>ChronicleVTI</vt:lpstr>
      <vt:lpstr>AI 기반 실시간 DDoS 공격 탐지 및  자동 차단 시스템</vt:lpstr>
      <vt:lpstr>제작 배경 </vt:lpstr>
      <vt:lpstr>제작 목표 </vt:lpstr>
      <vt:lpstr>제작 과정</vt:lpstr>
      <vt:lpstr>네트워크 트래픽 수집 </vt:lpstr>
      <vt:lpstr>네트워크 트래픽 수집 종류</vt:lpstr>
      <vt:lpstr>제작과정(네트워크 트래픽 정보 수집)</vt:lpstr>
      <vt:lpstr>학습 모델 생성 과정    </vt:lpstr>
      <vt:lpstr>프로그램 GUI 초본</vt:lpstr>
      <vt:lpstr>무결성 블록체인 DApp 구현 </vt:lpstr>
      <vt:lpstr> 감사합니다.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214</cp:revision>
  <dcterms:created xsi:type="dcterms:W3CDTF">2026-03-12T02:39:12Z</dcterms:created>
  <dcterms:modified xsi:type="dcterms:W3CDTF">2026-05-18T03:04:12Z</dcterms:modified>
</cp:coreProperties>
</file>